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image" Target="../media/image-3-6.png"/><Relationship Id="rId8" Type="http://schemas.openxmlformats.org/officeDocument/2006/relationships/image" Target="../media/image-3-6.png"/><Relationship Id="rId9" Type="http://schemas.openxmlformats.org/officeDocument/2006/relationships/image" Target="../media/image-3-6.png"/><Relationship Id="rId10" Type="http://schemas.openxmlformats.org/officeDocument/2006/relationships/image" Target="../media/image-3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8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760720" cy="5760720"/>
          </a:xfrm>
          <a:prstGeom prst="ellipse">
            <a:avLst/>
          </a:prstGeom>
          <a:solidFill>
            <a:srgbClr val="3F5C5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566160"/>
            <a:ext cx="3657600" cy="3657600"/>
          </a:xfrm>
          <a:prstGeom prst="ellipse">
            <a:avLst/>
          </a:prstGeom>
          <a:solidFill>
            <a:srgbClr val="D97D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66928"/>
            <a:ext cx="512064" cy="512064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5" name="Image 0" descr="/home/claude/wm_icons/recy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85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56692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WASTE INTELLIGENCE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Waste Management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and Overflow-Based Waste Collection with Dynamic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using Big Data Analytics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85800" y="5074920"/>
            <a:ext cx="7955280" cy="1234440"/>
          </a:xfrm>
          <a:prstGeom prst="roundRect">
            <a:avLst>
              <a:gd name="adj" fmla="val 5926"/>
            </a:avLst>
          </a:prstGeom>
          <a:solidFill>
            <a:srgbClr val="1A3733"/>
          </a:solidFill>
          <a:ln w="9525">
            <a:solidFill>
              <a:srgbClr val="3F5C5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5230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5486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V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241801043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5486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Kumaran J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241801129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Management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172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waste collection follows fixed schedules and predefined routes, without regard for actual waste conditions on the ground. This leads to overflowing bins, delayed pickup of high-toxicity waste, unnecessary vehicle trips, and higher fuel and transportation costs.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6172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applies Big Data Analytics to industrial, rural, and urban waste data. Hadoop HDFS handles distributed storage, YARN manages cluster resources, and Apache Spark powers large-scale processing and prediction — assigning collection priority by toxicity and overflow risk, then dynamically optimizing routes by priority, distance, vehicle capacity, and travel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6172200" cy="1005840"/>
          </a:xfrm>
          <a:prstGeom prst="roundRect">
            <a:avLst>
              <a:gd name="adj" fmla="val 7273"/>
            </a:avLst>
          </a:prstGeom>
          <a:solidFill>
            <a:srgbClr val="122A26"/>
          </a:solidFill>
          <a:ln/>
        </p:spPr>
      </p:sp>
      <p:pic>
        <p:nvPicPr>
          <p:cNvPr id="7" name="Image 0" descr="/home/claude/wm_icons/lea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3309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507492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efficient collection with lower transportation distance, fuel use, collection time, and operating cost.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78040" y="1508760"/>
            <a:ext cx="20574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97496" y="1691640"/>
            <a:ext cx="457200" cy="457200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11" name="Image 1" descr="/home/claude/wm_icons/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8105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97496" y="22402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397496" y="2697480"/>
            <a:ext cx="165506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data sources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Industrial, Urban, Rural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464040" y="1508760"/>
            <a:ext cx="20574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83496" y="1691640"/>
            <a:ext cx="457200" cy="457200"/>
          </a:xfrm>
          <a:prstGeom prst="ellipse">
            <a:avLst/>
          </a:prstGeom>
          <a:solidFill>
            <a:srgbClr val="3F5C58"/>
          </a:solidFill>
          <a:ln/>
        </p:spPr>
      </p:sp>
      <p:pic>
        <p:nvPicPr>
          <p:cNvPr id="16" name="Image 2" descr="/home/claude/wm_icons/gau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18105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683496" y="22402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9683496" y="2697480"/>
            <a:ext cx="165506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analyzed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toxicity, fill level &amp; more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178040" y="3451860"/>
            <a:ext cx="20574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97496" y="3634740"/>
            <a:ext cx="457200" cy="457200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21" name="Image 3" descr="/home/claude/wm_icons/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37536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97496" y="41833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7397496" y="4640580"/>
            <a:ext cx="165506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HDFS, YARN, Apache Spark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64040" y="3451860"/>
            <a:ext cx="20574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83496" y="3634740"/>
            <a:ext cx="457200" cy="457200"/>
          </a:xfrm>
          <a:prstGeom prst="ellipse">
            <a:avLst/>
          </a:prstGeom>
          <a:solidFill>
            <a:srgbClr val="3F5C58"/>
          </a:solidFill>
          <a:ln/>
        </p:spPr>
      </p:sp>
      <p:pic>
        <p:nvPicPr>
          <p:cNvPr id="26" name="Image 4" descr="/home/claude/wm_icons/doll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375361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83496" y="41833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683496" y="4640580"/>
            <a:ext cx="165506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goals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fuel, time, cost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Management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2636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0992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304288"/>
            <a:ext cx="292608" cy="292608"/>
          </a:xfrm>
          <a:prstGeom prst="ellipse">
            <a:avLst/>
          </a:prstGeom>
          <a:solidFill>
            <a:srgbClr val="FBEBDD"/>
          </a:solidFill>
          <a:ln/>
        </p:spPr>
      </p:sp>
      <p:pic>
        <p:nvPicPr>
          <p:cNvPr id="7" name="Image 0" descr="/home/claude/wm_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7744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99032" y="224028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schedules and fixed routes ignore actual waste conditions on the ground.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2962656"/>
            <a:ext cx="292608" cy="292608"/>
          </a:xfrm>
          <a:prstGeom prst="ellipse">
            <a:avLst/>
          </a:prstGeom>
          <a:solidFill>
            <a:srgbClr val="FBEBDD"/>
          </a:solidFill>
          <a:ln/>
        </p:spPr>
      </p:sp>
      <p:pic>
        <p:nvPicPr>
          <p:cNvPr id="10" name="Image 1" descr="/home/claude/wm_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03580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99032" y="2898648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waste often needs urgent collection even when bins are not full.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60120" y="3621024"/>
            <a:ext cx="292608" cy="292608"/>
          </a:xfrm>
          <a:prstGeom prst="ellipse">
            <a:avLst/>
          </a:prstGeom>
          <a:solidFill>
            <a:srgbClr val="FBEBDD"/>
          </a:solidFill>
          <a:ln/>
        </p:spPr>
      </p:sp>
      <p:pic>
        <p:nvPicPr>
          <p:cNvPr id="13" name="Image 2" descr="/home/claude/wm_icons/warnin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694176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99032" y="3557016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Fast-filling bins overflow before the scheduled pickup arrives.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60120" y="4279392"/>
            <a:ext cx="292608" cy="292608"/>
          </a:xfrm>
          <a:prstGeom prst="ellipse">
            <a:avLst/>
          </a:prstGeom>
          <a:solidFill>
            <a:srgbClr val="FBEBDD"/>
          </a:solidFill>
          <a:ln/>
        </p:spPr>
      </p:sp>
      <p:pic>
        <p:nvPicPr>
          <p:cNvPr id="16" name="Image 3" descr="/home/claude/wm_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35254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99032" y="4215384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trips raise fuel use, distance travelled, and operating cost.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960120" y="4937760"/>
            <a:ext cx="292608" cy="292608"/>
          </a:xfrm>
          <a:prstGeom prst="ellipse">
            <a:avLst/>
          </a:prstGeom>
          <a:solidFill>
            <a:srgbClr val="FBEBDD"/>
          </a:solidFill>
          <a:ln/>
        </p:spPr>
      </p:sp>
      <p:pic>
        <p:nvPicPr>
          <p:cNvPr id="19" name="Image 4" descr="/home/claude/wm_icons/warning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010912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99032" y="4873752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struggle to process large volumes of sensor and historical data.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7086600" y="1508760"/>
            <a:ext cx="4462272" cy="4617720"/>
          </a:xfrm>
          <a:prstGeom prst="roundRect">
            <a:avLst>
              <a:gd name="adj" fmla="val 1639"/>
            </a:avLst>
          </a:prstGeom>
          <a:solidFill>
            <a:srgbClr val="1F6F5C"/>
          </a:solidFill>
          <a:ln/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23" name="Image 5" descr="/home/claude/wm_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92024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092440" y="1801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1650" dirty="0"/>
          </a:p>
        </p:txBody>
      </p:sp>
      <p:sp>
        <p:nvSpPr>
          <p:cNvPr id="25" name="Text 17"/>
          <p:cNvSpPr txBox="1"/>
          <p:nvPr/>
        </p:nvSpPr>
        <p:spPr>
          <a:xfrm>
            <a:off x="7406640" y="2514600"/>
            <a:ext cx="3822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Hadoop and Apache Spark to analyze large-scale waste data, predict overflow, and prioritize collection by toxicity and urgency — then dynamically optimize routes to cut fuel, distance, time, and cost.</a:t>
            </a:r>
            <a:endParaRPr lang="en-US" sz="1300" dirty="0"/>
          </a:p>
        </p:txBody>
      </p:sp>
      <p:pic>
        <p:nvPicPr>
          <p:cNvPr id="26" name="Image 6" descr="/home/claude/wm_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931920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708392" y="388620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bin overflow before it happens</a:t>
            </a:r>
            <a:endParaRPr lang="en-US" sz="1250" dirty="0"/>
          </a:p>
        </p:txBody>
      </p:sp>
      <p:pic>
        <p:nvPicPr>
          <p:cNvPr id="28" name="Image 7" descr="/home/claude/wm_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4407408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708392" y="436168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toxic &amp; urgent waste</a:t>
            </a:r>
            <a:endParaRPr lang="en-US" sz="1250" dirty="0"/>
          </a:p>
        </p:txBody>
      </p:sp>
      <p:pic>
        <p:nvPicPr>
          <p:cNvPr id="30" name="Image 8" descr="/home/claude/wm_icons/che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4882896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708392" y="483717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routes dynamically</a:t>
            </a:r>
            <a:endParaRPr lang="en-US" sz="1250" dirty="0"/>
          </a:p>
        </p:txBody>
      </p:sp>
      <p:pic>
        <p:nvPicPr>
          <p:cNvPr id="32" name="Image 9" descr="/home/claude/wm_icons/check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5358384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708392" y="531266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fuel, time &amp; operating cost</a:t>
            </a:r>
            <a:endParaRPr lang="en-US" sz="1250" dirty="0"/>
          </a:p>
        </p:txBody>
      </p:sp>
      <p:sp>
        <p:nvSpPr>
          <p:cNvPr id="3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Management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Flow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sensor data to a cost-efficient, dashboard-driven collection plan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29488" y="1627632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122A26"/>
          </a:solidFill>
          <a:ln/>
        </p:spPr>
      </p:sp>
      <p:sp>
        <p:nvSpPr>
          <p:cNvPr id="6" name="Shape 4"/>
          <p:cNvSpPr/>
          <p:nvPr/>
        </p:nvSpPr>
        <p:spPr>
          <a:xfrm>
            <a:off x="1094080" y="1792224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7" name="Image 0" descr="/home/claude/wm_icons/fac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892808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87856" y="162763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49928" y="1627632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122A26"/>
          </a:solidFill>
          <a:ln/>
        </p:spPr>
      </p:sp>
      <p:sp>
        <p:nvSpPr>
          <p:cNvPr id="10" name="Shape 7"/>
          <p:cNvSpPr/>
          <p:nvPr/>
        </p:nvSpPr>
        <p:spPr>
          <a:xfrm>
            <a:off x="4614520" y="1792224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11" name="Image 1" descr="/home/claude/wm_icons/c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104" y="189280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08296" y="162763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970368" y="1627632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122A26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4960" y="1792224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15" name="Image 2" descr="/home/claude/wm_icons/tracto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544" y="189280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28736" y="162763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2575408" y="2340864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6095848" y="2340864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19" name="Shape 14"/>
          <p:cNvSpPr/>
          <p:nvPr/>
        </p:nvSpPr>
        <p:spPr>
          <a:xfrm>
            <a:off x="9616288" y="2340864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20" name="Shape 15"/>
          <p:cNvSpPr/>
          <p:nvPr/>
        </p:nvSpPr>
        <p:spPr>
          <a:xfrm>
            <a:off x="2575408" y="2414016"/>
            <a:ext cx="7040880" cy="0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95848" y="2414016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41452" y="2487168"/>
            <a:ext cx="10908792" cy="594360"/>
          </a:xfrm>
          <a:prstGeom prst="roundRect">
            <a:avLst>
              <a:gd name="adj" fmla="val 10769"/>
            </a:avLst>
          </a:prstGeom>
          <a:solidFill>
            <a:srgbClr val="1F6F5C"/>
          </a:solidFill>
          <a:ln/>
        </p:spPr>
      </p:sp>
      <p:sp>
        <p:nvSpPr>
          <p:cNvPr id="23" name="Shape 18"/>
          <p:cNvSpPr/>
          <p:nvPr/>
        </p:nvSpPr>
        <p:spPr>
          <a:xfrm>
            <a:off x="842620" y="2592324"/>
            <a:ext cx="384048" cy="384048"/>
          </a:xfrm>
          <a:prstGeom prst="ellipse">
            <a:avLst/>
          </a:prstGeom>
          <a:solidFill>
            <a:srgbClr val="1A5C4C"/>
          </a:solidFill>
          <a:ln/>
        </p:spPr>
      </p:sp>
      <p:pic>
        <p:nvPicPr>
          <p:cNvPr id="24" name="Image 3" descr="/home/claude/wm_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4" y="2692908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54684" y="24871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&amp; Processing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6429604" y="24871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7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  →   YARN   →   Apache Spark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095848" y="3081528"/>
            <a:ext cx="0" cy="146304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29488" y="3227832"/>
            <a:ext cx="3291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112368" y="3374136"/>
            <a:ext cx="420624" cy="420624"/>
          </a:xfrm>
          <a:prstGeom prst="ellipse">
            <a:avLst/>
          </a:prstGeom>
          <a:solidFill>
            <a:srgbClr val="E7F1EE"/>
          </a:solidFill>
          <a:ln/>
        </p:spPr>
      </p:sp>
      <p:pic>
        <p:nvPicPr>
          <p:cNvPr id="30" name="Image 4" descr="/home/claude/wm_icons/map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096" y="3483864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42720" y="3355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Analysis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1112368" y="3739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demand patterns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449928" y="3227832"/>
            <a:ext cx="3291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32808" y="3374136"/>
            <a:ext cx="420624" cy="420624"/>
          </a:xfrm>
          <a:prstGeom prst="ellipse">
            <a:avLst/>
          </a:prstGeom>
          <a:solidFill>
            <a:srgbClr val="FBEBDD"/>
          </a:solidFill>
          <a:ln/>
        </p:spPr>
      </p:sp>
      <p:pic>
        <p:nvPicPr>
          <p:cNvPr id="35" name="Image 5" descr="/home/claude/wm_icons/warning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536" y="3483864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163160" y="3355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Analysis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4632808" y="3739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level &amp; urgency scoring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7970368" y="3227832"/>
            <a:ext cx="3291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153248" y="3374136"/>
            <a:ext cx="420624" cy="420624"/>
          </a:xfrm>
          <a:prstGeom prst="ellipse">
            <a:avLst/>
          </a:prstGeom>
          <a:solidFill>
            <a:srgbClr val="E7F1EE"/>
          </a:solidFill>
          <a:ln/>
        </p:spPr>
      </p:sp>
      <p:pic>
        <p:nvPicPr>
          <p:cNvPr id="40" name="Image 6" descr="/home/claude/wm_icons/gaug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76" y="3483864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683600" y="3355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Prediction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8153248" y="3739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fill rate &amp; accumulation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2575408" y="4069080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44" name="Shape 35"/>
          <p:cNvSpPr/>
          <p:nvPr/>
        </p:nvSpPr>
        <p:spPr>
          <a:xfrm>
            <a:off x="6095848" y="4069080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45" name="Shape 36"/>
          <p:cNvSpPr/>
          <p:nvPr/>
        </p:nvSpPr>
        <p:spPr>
          <a:xfrm>
            <a:off x="9616288" y="4069080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>
            <a:off x="2575408" y="4142232"/>
            <a:ext cx="7040880" cy="0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095848" y="4142232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641452" y="4215384"/>
            <a:ext cx="10908792" cy="594360"/>
          </a:xfrm>
          <a:prstGeom prst="roundRect">
            <a:avLst>
              <a:gd name="adj" fmla="val 10769"/>
            </a:avLst>
          </a:prstGeom>
          <a:solidFill>
            <a:srgbClr val="122A26"/>
          </a:solidFill>
          <a:ln/>
        </p:spPr>
      </p:sp>
      <p:sp>
        <p:nvSpPr>
          <p:cNvPr id="49" name="Shape 40"/>
          <p:cNvSpPr/>
          <p:nvPr/>
        </p:nvSpPr>
        <p:spPr>
          <a:xfrm>
            <a:off x="842620" y="4320540"/>
            <a:ext cx="384048" cy="384048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50" name="Image 7" descr="/home/claude/wm_icons/rout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4" y="4421124"/>
            <a:ext cx="182880" cy="18288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354684" y="421538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Assignment &amp; Dynamic Route Optimization</a:t>
            </a:r>
            <a:endParaRPr lang="en-US" sz="1350" dirty="0"/>
          </a:p>
        </p:txBody>
      </p:sp>
      <p:sp>
        <p:nvSpPr>
          <p:cNvPr id="52" name="Text 42"/>
          <p:cNvSpPr txBox="1"/>
          <p:nvPr/>
        </p:nvSpPr>
        <p:spPr>
          <a:xfrm>
            <a:off x="7161124" y="421538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priority, distance, vehicle capacity &amp; travel time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6095848" y="4809744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54" name="Shape 44"/>
          <p:cNvSpPr/>
          <p:nvPr/>
        </p:nvSpPr>
        <p:spPr>
          <a:xfrm>
            <a:off x="2575408" y="4882896"/>
            <a:ext cx="7040880" cy="0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2575408" y="4882896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triangle"/>
          </a:ln>
        </p:spPr>
      </p:sp>
      <p:sp>
        <p:nvSpPr>
          <p:cNvPr id="56" name="Shape 46"/>
          <p:cNvSpPr/>
          <p:nvPr/>
        </p:nvSpPr>
        <p:spPr>
          <a:xfrm>
            <a:off x="6095848" y="4882896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triangle"/>
          </a:ln>
        </p:spPr>
      </p:sp>
      <p:sp>
        <p:nvSpPr>
          <p:cNvPr id="57" name="Shape 47"/>
          <p:cNvSpPr/>
          <p:nvPr/>
        </p:nvSpPr>
        <p:spPr>
          <a:xfrm>
            <a:off x="9616288" y="4882896"/>
            <a:ext cx="0" cy="73152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triangle"/>
          </a:ln>
        </p:spPr>
      </p:sp>
      <p:sp>
        <p:nvSpPr>
          <p:cNvPr id="58" name="Shape 48"/>
          <p:cNvSpPr/>
          <p:nvPr/>
        </p:nvSpPr>
        <p:spPr>
          <a:xfrm>
            <a:off x="929488" y="4956048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D97D3D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1094080" y="5120640"/>
            <a:ext cx="384048" cy="384048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60" name="Image 8" descr="/home/claude/wm_icons/rout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4664" y="5221224"/>
            <a:ext cx="182880" cy="182880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1587856" y="495604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Reduction</a:t>
            </a:r>
            <a:endParaRPr lang="en-US" sz="1300" dirty="0"/>
          </a:p>
        </p:txBody>
      </p:sp>
      <p:sp>
        <p:nvSpPr>
          <p:cNvPr id="62" name="Shape 51"/>
          <p:cNvSpPr/>
          <p:nvPr/>
        </p:nvSpPr>
        <p:spPr>
          <a:xfrm>
            <a:off x="4449928" y="4956048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D97D3D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4614520" y="5120640"/>
            <a:ext cx="384048" cy="384048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64" name="Image 9" descr="/home/claude/wm_icons/gas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5104" y="5221224"/>
            <a:ext cx="182880" cy="182880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5108296" y="495604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Reduction</a:t>
            </a:r>
            <a:endParaRPr lang="en-US" sz="1300" dirty="0"/>
          </a:p>
        </p:txBody>
      </p:sp>
      <p:sp>
        <p:nvSpPr>
          <p:cNvPr id="66" name="Shape 54"/>
          <p:cNvSpPr/>
          <p:nvPr/>
        </p:nvSpPr>
        <p:spPr>
          <a:xfrm>
            <a:off x="7970368" y="4956048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D97D3D"/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8134960" y="5120640"/>
            <a:ext cx="384048" cy="384048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68" name="Image 10" descr="/home/claude/wm_icons/clock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5544" y="5221224"/>
            <a:ext cx="182880" cy="182880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8628736" y="495604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300" dirty="0"/>
          </a:p>
        </p:txBody>
      </p:sp>
      <p:sp>
        <p:nvSpPr>
          <p:cNvPr id="70" name="Shape 57"/>
          <p:cNvSpPr/>
          <p:nvPr/>
        </p:nvSpPr>
        <p:spPr>
          <a:xfrm>
            <a:off x="2575408" y="5669280"/>
            <a:ext cx="0" cy="64008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71" name="Shape 58"/>
          <p:cNvSpPr/>
          <p:nvPr/>
        </p:nvSpPr>
        <p:spPr>
          <a:xfrm>
            <a:off x="6095848" y="5669280"/>
            <a:ext cx="0" cy="64008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72" name="Shape 59"/>
          <p:cNvSpPr/>
          <p:nvPr/>
        </p:nvSpPr>
        <p:spPr>
          <a:xfrm>
            <a:off x="9616288" y="5669280"/>
            <a:ext cx="0" cy="64008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none"/>
          </a:ln>
        </p:spPr>
      </p:sp>
      <p:sp>
        <p:nvSpPr>
          <p:cNvPr id="73" name="Shape 60"/>
          <p:cNvSpPr/>
          <p:nvPr/>
        </p:nvSpPr>
        <p:spPr>
          <a:xfrm>
            <a:off x="2575408" y="5733288"/>
            <a:ext cx="7040880" cy="0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</a:ln>
        </p:spPr>
      </p:sp>
      <p:sp>
        <p:nvSpPr>
          <p:cNvPr id="74" name="Shape 61"/>
          <p:cNvSpPr/>
          <p:nvPr/>
        </p:nvSpPr>
        <p:spPr>
          <a:xfrm>
            <a:off x="6095848" y="5733288"/>
            <a:ext cx="0" cy="64008"/>
          </a:xfrm>
          <a:prstGeom prst="line">
            <a:avLst/>
          </a:prstGeom>
          <a:noFill/>
          <a:ln w="19050">
            <a:solidFill>
              <a:srgbClr val="3F5C58"/>
            </a:solidFill>
            <a:prstDash val="solid"/>
            <a:tailEnd type="triangle"/>
          </a:ln>
        </p:spPr>
      </p:sp>
      <p:sp>
        <p:nvSpPr>
          <p:cNvPr id="75" name="Shape 62"/>
          <p:cNvSpPr/>
          <p:nvPr/>
        </p:nvSpPr>
        <p:spPr>
          <a:xfrm>
            <a:off x="641452" y="5797296"/>
            <a:ext cx="5317236" cy="475488"/>
          </a:xfrm>
          <a:prstGeom prst="roundRect">
            <a:avLst>
              <a:gd name="adj" fmla="val 13462"/>
            </a:avLst>
          </a:prstGeom>
          <a:solidFill>
            <a:srgbClr val="D97D3D"/>
          </a:solidFill>
          <a:ln/>
        </p:spPr>
      </p:sp>
      <p:pic>
        <p:nvPicPr>
          <p:cNvPr id="76" name="Image 11" descr="/home/claude/wm_icons/dollar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620" y="5934456"/>
            <a:ext cx="201168" cy="201168"/>
          </a:xfrm>
          <a:prstGeom prst="rect">
            <a:avLst/>
          </a:prstGeom>
        </p:spPr>
      </p:pic>
      <p:sp>
        <p:nvSpPr>
          <p:cNvPr id="77" name="Text 63"/>
          <p:cNvSpPr txBox="1"/>
          <p:nvPr/>
        </p:nvSpPr>
        <p:spPr>
          <a:xfrm>
            <a:off x="1144372" y="5797296"/>
            <a:ext cx="46771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Waste Collection</a:t>
            </a:r>
            <a:endParaRPr lang="en-US" sz="1250" dirty="0"/>
          </a:p>
        </p:txBody>
      </p:sp>
      <p:sp>
        <p:nvSpPr>
          <p:cNvPr id="78" name="Shape 64"/>
          <p:cNvSpPr/>
          <p:nvPr/>
        </p:nvSpPr>
        <p:spPr>
          <a:xfrm>
            <a:off x="6233008" y="5797296"/>
            <a:ext cx="5317236" cy="475488"/>
          </a:xfrm>
          <a:prstGeom prst="roundRect">
            <a:avLst>
              <a:gd name="adj" fmla="val 13462"/>
            </a:avLst>
          </a:prstGeom>
          <a:solidFill>
            <a:srgbClr val="122A26"/>
          </a:solidFill>
          <a:ln/>
        </p:spPr>
      </p:sp>
      <p:pic>
        <p:nvPicPr>
          <p:cNvPr id="79" name="Image 12" descr="/home/claude/wm_icons/dashboard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4176" y="5934456"/>
            <a:ext cx="201168" cy="201168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6735928" y="5797296"/>
            <a:ext cx="46771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Dashboard</a:t>
            </a:r>
            <a:endParaRPr lang="en-US" sz="1250" dirty="0"/>
          </a:p>
        </p:txBody>
      </p:sp>
      <p:sp>
        <p:nvSpPr>
          <p:cNvPr id="81" name="Text 6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Management</a:t>
            </a:r>
            <a:endParaRPr lang="en-US" sz="1000" dirty="0"/>
          </a:p>
        </p:txBody>
      </p:sp>
      <p:sp>
        <p:nvSpPr>
          <p:cNvPr id="82" name="Text 6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Hadoop Ecosystem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powering storage, processing, and prediction in this project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08792" cy="502920"/>
          </a:xfrm>
          <a:prstGeom prst="roundRect">
            <a:avLst>
              <a:gd name="adj" fmla="val 9091"/>
            </a:avLst>
          </a:prstGeom>
          <a:solidFill>
            <a:srgbClr val="122A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600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40280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10" name="Image 0" descr="/home/claude/wm_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40864"/>
            <a:ext cx="182880" cy="182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1031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1031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large-scale waste and collection data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2761488"/>
            <a:ext cx="10908792" cy="658368"/>
          </a:xfrm>
          <a:prstGeom prst="rect">
            <a:avLst/>
          </a:prstGeom>
          <a:solidFill>
            <a:srgbClr val="E7EFEC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898648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15" name="Image 1" descr="/home/claude/wm_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999232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08760" y="27614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46320" y="27614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cluster resources and execution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419856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3557016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20" name="Image 2" descr="/home/claude/wm_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5760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34198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846320" y="341985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processing and analytics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4078224"/>
            <a:ext cx="10908792" cy="658368"/>
          </a:xfrm>
          <a:prstGeom prst="rect">
            <a:avLst/>
          </a:prstGeom>
          <a:solidFill>
            <a:srgbClr val="E7EFEC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4215384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25" name="Image 3" descr="/home/claude/wm_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15968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40782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846320" y="407822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aggregate waste data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40080" y="4736592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868680" y="4873752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30" name="Image 4" descr="/home/claude/wm_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74336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08760" y="4736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846320" y="473659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prediction / machine learning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40080" y="5394960"/>
            <a:ext cx="10908792" cy="658368"/>
          </a:xfrm>
          <a:prstGeom prst="rect">
            <a:avLst/>
          </a:prstGeom>
          <a:solidFill>
            <a:srgbClr val="E7EFEC"/>
          </a:solidFill>
          <a:ln/>
        </p:spPr>
      </p:sp>
      <p:sp>
        <p:nvSpPr>
          <p:cNvPr id="34" name="Shape 27"/>
          <p:cNvSpPr/>
          <p:nvPr/>
        </p:nvSpPr>
        <p:spPr>
          <a:xfrm>
            <a:off x="868680" y="5532120"/>
            <a:ext cx="384048" cy="384048"/>
          </a:xfrm>
          <a:prstGeom prst="ellipse">
            <a:avLst/>
          </a:prstGeom>
          <a:solidFill>
            <a:srgbClr val="1F6F5C"/>
          </a:solidFill>
          <a:ln/>
        </p:spPr>
      </p:sp>
      <p:pic>
        <p:nvPicPr>
          <p:cNvPr id="35" name="Image 5" descr="/home/claude/wm_icons/cod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632704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508760" y="5394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4846320" y="53949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Spark implementation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640080" y="1600200"/>
            <a:ext cx="10908792" cy="4453128"/>
          </a:xfrm>
          <a:prstGeom prst="rect">
            <a:avLst/>
          </a:prstGeom>
          <a:ln w="12700">
            <a:solidFill>
              <a:srgbClr val="E2E8E5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Management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931920"/>
            <a:ext cx="5577840" cy="5577840"/>
          </a:xfrm>
          <a:prstGeom prst="ellipse">
            <a:avLst/>
          </a:prstGeom>
          <a:solidFill>
            <a:srgbClr val="3F5C5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737360"/>
            <a:ext cx="4206240" cy="4206240"/>
          </a:xfrm>
          <a:prstGeom prst="ellipse">
            <a:avLst/>
          </a:prstGeom>
          <a:solidFill>
            <a:srgbClr val="D97D3D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144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Measurable Benefits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collection system built to move less, cost less, and respond faster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6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A3733"/>
          </a:solidFill>
          <a:ln w="9525">
            <a:solidFill>
              <a:srgbClr val="3F5C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6144" y="2441448"/>
            <a:ext cx="585216" cy="585216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9" name="Image 0" descr="/home/claude/wm_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304" y="257860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5752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Distance Reduction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5752" y="3685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smarter collection routes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5800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A3733"/>
          </a:solidFill>
          <a:ln w="9525">
            <a:solidFill>
              <a:srgbClr val="3F5C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4208" y="2441448"/>
            <a:ext cx="585216" cy="585216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14" name="Image 1" descr="/home/claude/wm_icons/ga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8" y="257860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53816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Fuel Reduction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53816" y="3685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unnecessary vehicle trips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23864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A3733"/>
          </a:solidFill>
          <a:ln w="9525">
            <a:solidFill>
              <a:srgbClr val="3F5C5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02272" y="2441448"/>
            <a:ext cx="585216" cy="585216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19" name="Image 2" descr="/home/claude/wm_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432" y="257860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188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Reduction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51880" y="3685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to urgent bins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21928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1A3733"/>
          </a:solidFill>
          <a:ln w="9525">
            <a:solidFill>
              <a:srgbClr val="3F5C5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00336" y="2441448"/>
            <a:ext cx="585216" cy="585216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24" name="Image 3" descr="/home/claude/wm_icons/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496" y="257860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9944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Reduction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149944" y="3685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overall operational spend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85800" y="5897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Management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2026-09-23T03:01:51Z</dcterms:created>
  <dcterms:modified xsi:type="dcterms:W3CDTF">2026-09-23T03:01:51Z</dcterms:modified>
</cp:coreProperties>
</file>